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Unbounded"/>
      <p:regular r:id="rId17"/>
    </p:embeddedFont>
    <p:embeddedFont>
      <p:font typeface="Unbounded"/>
      <p:regular r:id="rId18"/>
    </p:embeddedFont>
    <p:embeddedFont>
      <p:font typeface="Open Sans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3,900 purchases to drive strategic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20033"/>
            <a:ext cx="1609487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88018"/>
            <a:ext cx="133731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37003"/>
            <a:ext cx="6450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899291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2542699" y="3931087"/>
            <a:ext cx="2881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56884" y="2899291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9229130" y="3931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Features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46255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Data Points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5320070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demographics &amp; location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Purchase details &amp; product categories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Shopping behavior &amp; review ratings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&amp; shipping preferences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12669" y="984647"/>
            <a:ext cx="1576745" cy="327184"/>
          </a:xfrm>
          <a:prstGeom prst="roundRect">
            <a:avLst>
              <a:gd name="adj" fmla="val 18377"/>
            </a:avLst>
          </a:prstGeom>
          <a:noFill/>
          <a:ln w="7620">
            <a:solidFill>
              <a:srgbClr val="26A68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27564" y="1045845"/>
            <a:ext cx="1346954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112669" y="1368266"/>
            <a:ext cx="6820733" cy="559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Python Data Processing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112669" y="2139077"/>
            <a:ext cx="17883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12669" y="2420183"/>
            <a:ext cx="7891463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8" name="Text 5"/>
          <p:cNvSpPr/>
          <p:nvPr/>
        </p:nvSpPr>
        <p:spPr>
          <a:xfrm>
            <a:off x="6112669" y="2555319"/>
            <a:ext cx="3848219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Loading &amp; Exploration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112669" y="2919532"/>
            <a:ext cx="7891463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dataset, checked structure and summary statistics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12669" y="3450788"/>
            <a:ext cx="17883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12669" y="3731895"/>
            <a:ext cx="7891463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2" name="Text 9"/>
          <p:cNvSpPr/>
          <p:nvPr/>
        </p:nvSpPr>
        <p:spPr>
          <a:xfrm>
            <a:off x="6112669" y="3867031"/>
            <a:ext cx="3183017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Missing Data Handling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112669" y="4231243"/>
            <a:ext cx="7891463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37 missing review ratings using category medians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12669" y="4762500"/>
            <a:ext cx="17883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12669" y="5043607"/>
            <a:ext cx="7891463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6" name="Text 13"/>
          <p:cNvSpPr/>
          <p:nvPr/>
        </p:nvSpPr>
        <p:spPr>
          <a:xfrm>
            <a:off x="6112669" y="5178743"/>
            <a:ext cx="2828568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112669" y="5542955"/>
            <a:ext cx="7891463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 groups and purchase frequency columns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12669" y="6074212"/>
            <a:ext cx="178832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12669" y="6355318"/>
            <a:ext cx="7891463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0" name="Text 17"/>
          <p:cNvSpPr/>
          <p:nvPr/>
        </p:nvSpPr>
        <p:spPr>
          <a:xfrm>
            <a:off x="6112669" y="6490454"/>
            <a:ext cx="3051334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Integration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6112669" y="6854666"/>
            <a:ext cx="7891463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to MySQL for advanced SQL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57118"/>
            <a:ext cx="1738074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879515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825103"/>
            <a:ext cx="11937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ANALYSIS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274088"/>
            <a:ext cx="60406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Insights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78179"/>
            <a:ext cx="8284131" cy="43817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057412" y="699039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E3E33"/>
          </a:solidFill>
          <a:ln/>
        </p:spPr>
      </p:sp>
      <p:sp>
        <p:nvSpPr>
          <p:cNvPr id="8" name="Text 4"/>
          <p:cNvSpPr/>
          <p:nvPr/>
        </p:nvSpPr>
        <p:spPr>
          <a:xfrm>
            <a:off x="4345186" y="6990398"/>
            <a:ext cx="5144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012055" y="699039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2DC5A1"/>
          </a:solidFill>
          <a:ln/>
        </p:spPr>
      </p:sp>
      <p:sp>
        <p:nvSpPr>
          <p:cNvPr id="10" name="Text 6"/>
          <p:cNvSpPr/>
          <p:nvPr/>
        </p:nvSpPr>
        <p:spPr>
          <a:xfrm>
            <a:off x="5299829" y="6990398"/>
            <a:ext cx="7647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38943" y="2717602"/>
            <a:ext cx="420516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Gender Revenue Comparison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638943" y="3653076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Nearly equal revenue distribution between male and female customers, indicating balanced market appeal across genders.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38943" y="5359837"/>
            <a:ext cx="4205168" cy="1689616"/>
          </a:xfrm>
          <a:prstGeom prst="roundRect">
            <a:avLst>
              <a:gd name="adj" fmla="val 5638"/>
            </a:avLst>
          </a:prstGeom>
          <a:solidFill>
            <a:srgbClr val="C1F1E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757" y="5711547"/>
            <a:ext cx="283488" cy="2268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76059" y="5643324"/>
            <a:ext cx="324123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segments contribute approximately $117K each to total revenue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89202"/>
            <a:ext cx="73140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38143"/>
            <a:ext cx="3664744" cy="1821180"/>
          </a:xfrm>
          <a:prstGeom prst="roundRect">
            <a:avLst>
              <a:gd name="adj" fmla="val 523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4725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Subscribers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62995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$60.12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14624" y="4461986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$117K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3238143"/>
            <a:ext cx="3664863" cy="1821180"/>
          </a:xfrm>
          <a:prstGeom prst="roundRect">
            <a:avLst>
              <a:gd name="adj" fmla="val 5231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06182" y="3472577"/>
            <a:ext cx="29907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Non-Subscribers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406182" y="3962995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spend: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$59.88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406182" y="4461986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$117K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531447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Subscribers with 5+ purchases show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DDF8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retention rates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indicating subscription value for loyalty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8419" y="540901"/>
            <a:ext cx="2146102" cy="368141"/>
          </a:xfrm>
          <a:prstGeom prst="roundRect">
            <a:avLst>
              <a:gd name="adj" fmla="val 17955"/>
            </a:avLst>
          </a:prstGeom>
          <a:noFill/>
          <a:ln w="7620">
            <a:solidFill>
              <a:srgbClr val="26A6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4030" y="607457"/>
            <a:ext cx="1894880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8419" y="977265"/>
            <a:ext cx="6174224" cy="61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Top-Rated Products</a:t>
            </a:r>
            <a:endParaRPr lang="en-US" sz="3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419" y="1847850"/>
            <a:ext cx="1828919" cy="1828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8419" y="3890010"/>
            <a:ext cx="2458998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Blouse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8419" y="4299585"/>
            <a:ext cx="315337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⭐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4.2 rating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031" y="1847850"/>
            <a:ext cx="1828919" cy="18289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55031" y="3890010"/>
            <a:ext cx="2458998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Jewelry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055031" y="4299585"/>
            <a:ext cx="3153489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⭐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4.08 rating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761" y="1847850"/>
            <a:ext cx="1828919" cy="18289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21761" y="3890010"/>
            <a:ext cx="2458998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Dress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7421761" y="4299585"/>
            <a:ext cx="3153489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⭐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4.05 rating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1847850"/>
            <a:ext cx="1828919" cy="18289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8491" y="3890010"/>
            <a:ext cx="2458998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Handbag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10788491" y="4299585"/>
            <a:ext cx="3153489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⭐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3.98 rating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19" y="4942046"/>
            <a:ext cx="1828919" cy="18289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8419" y="6984206"/>
            <a:ext cx="2458998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Sweater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688419" y="7393781"/>
            <a:ext cx="315337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⭐</a:t>
            </a:r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3.97 rating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119" y="649010"/>
            <a:ext cx="8468082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Segmentation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19" y="2278499"/>
            <a:ext cx="8333065" cy="44181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04743" y="6727150"/>
            <a:ext cx="217646" cy="217646"/>
          </a:xfrm>
          <a:prstGeom prst="roundRect">
            <a:avLst>
              <a:gd name="adj" fmla="val 8403"/>
            </a:avLst>
          </a:prstGeom>
          <a:solidFill>
            <a:srgbClr val="0E3E33"/>
          </a:solidFill>
          <a:ln/>
        </p:spPr>
      </p:sp>
      <p:sp>
        <p:nvSpPr>
          <p:cNvPr id="5" name="Text 2"/>
          <p:cNvSpPr/>
          <p:nvPr/>
        </p:nvSpPr>
        <p:spPr>
          <a:xfrm>
            <a:off x="2983349" y="6727150"/>
            <a:ext cx="454819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290893" y="6727150"/>
            <a:ext cx="217646" cy="217646"/>
          </a:xfrm>
          <a:prstGeom prst="roundRect">
            <a:avLst>
              <a:gd name="adj" fmla="val 8403"/>
            </a:avLst>
          </a:prstGeom>
          <a:solidFill>
            <a:srgbClr val="23987D"/>
          </a:solidFill>
          <a:ln/>
        </p:spPr>
      </p:sp>
      <p:sp>
        <p:nvSpPr>
          <p:cNvPr id="7" name="Text 4"/>
          <p:cNvSpPr/>
          <p:nvPr/>
        </p:nvSpPr>
        <p:spPr>
          <a:xfrm>
            <a:off x="4569500" y="6727150"/>
            <a:ext cx="996672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Returning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19017" y="6727150"/>
            <a:ext cx="217646" cy="217646"/>
          </a:xfrm>
          <a:prstGeom prst="roundRect">
            <a:avLst>
              <a:gd name="adj" fmla="val 8403"/>
            </a:avLst>
          </a:prstGeom>
          <a:solidFill>
            <a:srgbClr val="52D7B8"/>
          </a:solidFill>
          <a:ln/>
        </p:spPr>
      </p:sp>
      <p:sp>
        <p:nvSpPr>
          <p:cNvPr id="9" name="Text 6"/>
          <p:cNvSpPr/>
          <p:nvPr/>
        </p:nvSpPr>
        <p:spPr>
          <a:xfrm>
            <a:off x="6697623" y="6727150"/>
            <a:ext cx="529471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Loyal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34061" y="1851898"/>
            <a:ext cx="424184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Three Distinct Segments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634061" y="2767370"/>
            <a:ext cx="4241840" cy="1386721"/>
          </a:xfrm>
          <a:prstGeom prst="roundRect">
            <a:avLst>
              <a:gd name="adj" fmla="val 6595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82188" y="3015496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New (50%)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882188" y="3564612"/>
            <a:ext cx="374558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First-time buyers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34061" y="4363045"/>
            <a:ext cx="4241840" cy="1386721"/>
          </a:xfrm>
          <a:prstGeom prst="roundRect">
            <a:avLst>
              <a:gd name="adj" fmla="val 6595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82188" y="4611172"/>
            <a:ext cx="276725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Returning (33%)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882188" y="5160288"/>
            <a:ext cx="374558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2-4 purchases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634061" y="5958721"/>
            <a:ext cx="4241840" cy="1386721"/>
          </a:xfrm>
          <a:prstGeom prst="roundRect">
            <a:avLst>
              <a:gd name="adj" fmla="val 6595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82188" y="6206847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Loyal (17%)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882188" y="6755963"/>
            <a:ext cx="374558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5+ purchases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76060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Shipping Preferences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532108"/>
            <a:ext cx="33843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Minimal Difference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4113252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customers spend slightly more on average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043130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options maintain similar purchase values around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$60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636508"/>
            <a:ext cx="1389578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78" y="758904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2055" y="704493"/>
            <a:ext cx="84522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93790" y="11534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Interactive Dashboard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793790" y="291119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visual analytics combining all insights into an actionable dashboard for real-time decision making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3892153"/>
            <a:ext cx="453628" cy="4536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0906" y="3970020"/>
            <a:ext cx="31236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Dynamic Filtering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530906" y="44604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Slice data by demographics, products, and time periods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5276969"/>
            <a:ext cx="453628" cy="4536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30906" y="5354836"/>
            <a:ext cx="31315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Tracking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530906" y="58452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performance across segments and categories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90" y="6661785"/>
            <a:ext cx="453628" cy="45362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30906" y="6739652"/>
            <a:ext cx="33049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Insights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530906" y="72300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Visualize behavior patterns and preferences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17640"/>
            <a:ext cx="2271117" cy="426244"/>
          </a:xfrm>
          <a:prstGeom prst="roundRect">
            <a:avLst>
              <a:gd name="adj" fmla="val 17880"/>
            </a:avLst>
          </a:prstGeom>
          <a:solidFill>
            <a:srgbClr val="D6F5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240036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185624"/>
            <a:ext cx="172676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ACTIONS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634609"/>
            <a:ext cx="101630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Business Recommendations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83550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817620"/>
            <a:ext cx="36589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430803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to increase subscriber base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83550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42014" y="3817620"/>
            <a:ext cx="31901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42014" y="430803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build loyal customer segment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97755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0604" y="6031825"/>
            <a:ext cx="34909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Optimize Discounts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20604" y="652224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promotional sales with margin control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97755"/>
            <a:ext cx="6521410" cy="9072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42014" y="6031825"/>
            <a:ext cx="35577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7542014" y="652224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and top products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2026-02-09T13:51:10Z</dcterms:created>
  <dcterms:modified xsi:type="dcterms:W3CDTF">2026-02-09T13:51:10Z</dcterms:modified>
</cp:coreProperties>
</file>